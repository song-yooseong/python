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Classic 서비스 Fade-out 및 VPC 이관 전략
</a:t>
            </a:r>
            <a:r>
              <a:rPr sz="2000" b="0">
                <a:solidFill>
                  <a:srgbClr val="4682B4"/>
                </a:solidFill>
                <a:latin typeface="맑은 고딕"/>
              </a:rPr>
              <a:t>공공 리전 선행 추진 및 글로벌 리전 이슈 대응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8C8C8"/>
                </a:solidFill>
                <a:latin typeface="맑은 고딕"/>
              </a:rPr>
              <a:t>보고일자: 2026. 05
보고대상: 임원진 (수환님 발제 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1. 추진 배경 및 핵심 방향성</a:t>
            </a:r>
          </a:p>
          <a:p>
            <a:r>
              <a:rPr sz="1200" b="0">
                <a:solidFill>
                  <a:srgbClr val="C8DCF0"/>
                </a:solidFill>
                <a:latin typeface="맑은 고딕"/>
              </a:rPr>
              <a:t>전체 페이드아웃 정체 해소를 위한 KPI 전환 가시화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182B49"/>
                </a:solidFill>
                <a:latin typeface="맑은 고딕"/>
              </a:rPr>
              <a:t>현재 직면한 교착 상태
</a:t>
            </a:r>
          </a:p>
          <a:p>
            <a:r>
              <a:rPr sz="1400" b="0">
                <a:solidFill>
                  <a:srgbClr val="333333"/>
                </a:solidFill>
                <a:latin typeface="맑은 고딕"/>
              </a:rPr>
              <a:t>• 사전 준비(신규 VM 차단 등)는 완료되었으나, 사업부 협의 단계에서 중단됨
</a:t>
            </a:r>
          </a:p>
          <a:p>
            <a:r>
              <a:rPr sz="1400" b="0">
                <a:solidFill>
                  <a:srgbClr val="333333"/>
                </a:solidFill>
                <a:latin typeface="맑은 고딕"/>
              </a:rPr>
              <a:t>• 해외 리전(미국, 독일)의 VPC 미구축으로 인해 글로벌 이관 전면 스탑
</a:t>
            </a:r>
          </a:p>
          <a:p>
            <a:r>
              <a:rPr sz="1400" b="0">
                <a:solidFill>
                  <a:srgbClr val="333333"/>
                </a:solidFill>
                <a:latin typeface="맑은 고딕"/>
              </a:rPr>
              <a:t>• 대형 고객사(SKT, 벨로프 등)의 특수 네트워크 및 인프라 종속성 존재
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800" b="1">
                <a:solidFill>
                  <a:srgbClr val="182B49"/>
                </a:solidFill>
                <a:latin typeface="맑은 고딕"/>
              </a:rPr>
              <a:t>핵심 선회 전략 (Pivot)
</a:t>
            </a:r>
          </a:p>
          <a:p>
            <a:r>
              <a:rPr sz="1400" b="0">
                <a:solidFill>
                  <a:srgbClr val="333333"/>
                </a:solidFill>
                <a:latin typeface="맑은 고딕"/>
              </a:rPr>
              <a:t>• KPI 변경 검토: [민간 중심] → [공공 우선 추진]으로 속도 조절
</a:t>
            </a:r>
          </a:p>
          <a:p>
            <a:r>
              <a:rPr sz="1400" b="0">
                <a:solidFill>
                  <a:srgbClr val="333333"/>
                </a:solidFill>
                <a:latin typeface="맑은 고딕"/>
              </a:rPr>
              <a:t>• 공공 리전은 해외 이슈가 없어 상대적으로 구조가 단순함
</a:t>
            </a:r>
          </a:p>
          <a:p>
            <a:r>
              <a:rPr sz="1400" b="0">
                <a:solidFill>
                  <a:srgbClr val="333333"/>
                </a:solidFill>
                <a:latin typeface="맑은 고딕"/>
              </a:rPr>
              <a:t>• 공공 선행 전환을 통해 Lesson Learned를 확보한 후 민간 후속 적용
</a:t>
            </a:r>
          </a:p>
          <a:p>
            <a:r>
              <a:rPr sz="1400" b="0">
                <a:solidFill>
                  <a:srgbClr val="333333"/>
                </a:solidFill>
                <a:latin typeface="맑은 고딕"/>
              </a:rPr>
              <a:t>• VPC 완전 종료 및 전량 이관을 최종 목적지로 설정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2. 5대 기술적 이슈 및 제약사항</a:t>
            </a:r>
          </a:p>
          <a:p>
            <a:r>
              <a:rPr sz="1200" b="0">
                <a:solidFill>
                  <a:srgbClr val="C8DCF0"/>
                </a:solidFill>
                <a:latin typeface="맑은 고딕"/>
              </a:rPr>
              <a:t>고객 반발 및 기술 차단 요소를 선제적으로 분류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510735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기술 쟁점 및 현황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실무적 대응 방안 / 영향도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OS 레벨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Classic 고객 대부분이 단종(EOS)된 구버전 OS 사용 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VPC 제공 OS 목록과 대조하여 강제 업그레이드 여부 검토 필요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네트워크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Classic → VPC 이전 시 인프라 특성상 IP 전체 변경 불가피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온프레미스/타 클라우드 연계 고객은 내부 전산 작업 수반 필요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SKT 특수성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SKT 전용 특수 네트워크가 구성되어 있어 VPC 이관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별도 전용선 연계 방안 수립 또는 영업 부서 협의 통한 예외 처리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상품 스펙/비용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Classic 대비 VPC의 서버 타입, 스펙, 단가 체계 상이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단가 상승 고객 반발 예상 (ex. 월 1천만 원 → 1.8천만 원 상향 건)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보안 서비스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기존 Classic 보안 상품과 VPC 보안 아키텍처 상이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보안 조직 협조를 통해 CSAP 논리 격리 및 규정 준수 재검증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3. 공공 클래식 우선 추진 로드맵</a:t>
            </a:r>
          </a:p>
          <a:p>
            <a:r>
              <a:rPr sz="1200" b="0">
                <a:solidFill>
                  <a:srgbClr val="C8DCF0"/>
                </a:solidFill>
                <a:latin typeface="맑은 고딕"/>
              </a:rPr>
              <a:t>정부 예산 편성 시기(8월) 이전 선제 공지 및 2027년 본격 이관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8404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682B4"/>
                </a:solidFill>
                <a:latin typeface="맑은 고딕"/>
              </a:rPr>
              <a:t>5월~6월
</a:t>
            </a:r>
          </a:p>
          <a:p>
            <a:r>
              <a:rPr sz="1800" b="1">
                <a:solidFill>
                  <a:srgbClr val="182B49"/>
                </a:solidFill>
                <a:latin typeface="맑은 고딕"/>
              </a:rPr>
              <a:t>전수 조사
</a:t>
            </a:r>
          </a:p>
          <a:p>
            <a:r>
              <a:rPr sz="1200" b="0">
                <a:solidFill>
                  <a:srgbClr val="333333"/>
                </a:solidFill>
                <a:latin typeface="맑은 고딕"/>
              </a:rPr>
              <a:t>사용 고객, 상품 현황 파악
Classic-VPC 기능 Gap 분석
(이영대님, 조정수님 데이터 교차)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60320" cy="38404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682B4"/>
                </a:solidFill>
                <a:latin typeface="맑은 고딕"/>
              </a:rPr>
              <a:t>7월
</a:t>
            </a:r>
          </a:p>
          <a:p>
            <a:r>
              <a:rPr sz="1800" b="1">
                <a:solidFill>
                  <a:srgbClr val="182B49"/>
                </a:solidFill>
                <a:latin typeface="맑은 고딕"/>
              </a:rPr>
              <a:t>내부 조율
</a:t>
            </a:r>
          </a:p>
          <a:p>
            <a:r>
              <a:rPr sz="1200" b="0">
                <a:solidFill>
                  <a:srgbClr val="333333"/>
                </a:solidFill>
                <a:latin typeface="맑은 고딕"/>
              </a:rPr>
              <a:t>작업 계획 초안 수립
내부 개발조직/Sales/TAM 사전 공유
의사결정 사항 임원 보고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560320" cy="3840480"/>
          </a:xfrm>
          <a:prstGeom prst="roundRect">
            <a:avLst/>
          </a:prstGeom>
          <a:solidFill>
            <a:srgbClr val="EBF3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682B4"/>
                </a:solidFill>
                <a:latin typeface="맑은 고딕"/>
              </a:rPr>
              <a:t>8월 이전
</a:t>
            </a:r>
          </a:p>
          <a:p>
            <a:r>
              <a:rPr sz="1800" b="1">
                <a:solidFill>
                  <a:srgbClr val="182B49"/>
                </a:solidFill>
                <a:latin typeface="맑은 고딕"/>
              </a:rPr>
              <a:t>고객 공지 발송
</a:t>
            </a:r>
          </a:p>
          <a:p>
            <a:r>
              <a:rPr sz="1200" b="0">
                <a:solidFill>
                  <a:srgbClr val="333333"/>
                </a:solidFill>
                <a:latin typeface="맑은 고딕"/>
              </a:rPr>
              <a:t>공공기관 예산 편성기 타겟
내년도 예산 반영 유도
고객 공지문 초안 작성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560320" cy="38404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682B4"/>
                </a:solidFill>
                <a:latin typeface="맑은 고딕"/>
              </a:rPr>
              <a:t>2027년~
</a:t>
            </a:r>
          </a:p>
          <a:p>
            <a:r>
              <a:rPr sz="1800" b="1">
                <a:solidFill>
                  <a:srgbClr val="182B49"/>
                </a:solidFill>
                <a:latin typeface="맑은 고딕"/>
              </a:rPr>
              <a:t>본격 이관 시행
</a:t>
            </a:r>
          </a:p>
          <a:p>
            <a:r>
              <a:rPr sz="1200" b="0">
                <a:solidFill>
                  <a:srgbClr val="333333"/>
                </a:solidFill>
                <a:latin typeface="맑은 고딕"/>
              </a:rPr>
              <a:t>과거 하이퍼바이저 이관 이력 활용
NAS/CDB 마이그레이션 툴 투입
본격적인 VPC 전환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4. 핵심 경영진 의사결정 요청 안건</a:t>
            </a:r>
          </a:p>
          <a:p>
            <a:r>
              <a:rPr sz="1200" b="0">
                <a:solidFill>
                  <a:srgbClr val="C8DCF0"/>
                </a:solidFill>
                <a:latin typeface="맑은 고딕"/>
              </a:rPr>
              <a:t>인프라 투자 비용 및 고객 보전 정책에 대한 가이드라인 확립 필요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/>
            <a:r>
              <a:rPr sz="1400" b="1">
                <a:solidFill>
                  <a:srgbClr val="182B49"/>
                </a:solidFill>
                <a:latin typeface="맑은 고딕"/>
              </a:rPr>
              <a:t>안건 1. 미국·독일 리전 VPC 신규 구축 여부
</a:t>
            </a:r>
          </a:p>
          <a:p>
            <a:r>
              <a:rPr sz="1100" b="0">
                <a:solidFill>
                  <a:srgbClr val="333333"/>
                </a:solidFill>
                <a:latin typeface="맑은 고딕"/>
              </a:rPr>
              <a:t>• 현황: 글로벌 리전 VPC 부재로 이관 전면 중단
• 리스크: 대형 고객(벨로프 등) 이탈 가능성
• 결정 필요사항: 투자 비용 검토 후 승인 또는 글로벌 리전 예외 처리 여부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645920"/>
            <a:ext cx="51206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/>
            <a:r>
              <a:rPr sz="1400" b="1">
                <a:solidFill>
                  <a:srgbClr val="182B49"/>
                </a:solidFill>
                <a:latin typeface="맑은 고딕"/>
              </a:rPr>
              <a:t>안건 2. 이관에 따른 고객 비용 증가분 보전 책 책정
</a:t>
            </a:r>
          </a:p>
          <a:p>
            <a:r>
              <a:rPr sz="1100" b="0">
                <a:solidFill>
                  <a:srgbClr val="333333"/>
                </a:solidFill>
                <a:latin typeface="맑은 고딕"/>
              </a:rPr>
              <a:t>• 현황: 상품 스펙 차이로 인해 VPC 이관 시 이용 요금 대폭 상승 케이스 발생
• 결정 필요사항: 인상 금액을 회사가 일정 기간 보전할 것인가, 고객에게 청구할 것인가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51206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/>
            <a:r>
              <a:rPr sz="1400" b="1">
                <a:solidFill>
                  <a:srgbClr val="182B49"/>
                </a:solidFill>
                <a:latin typeface="맑은 고딕"/>
              </a:rPr>
              <a:t>안건 3. 마이그레이션 수행 주체 및 MSP 비용 분담
</a:t>
            </a:r>
          </a:p>
          <a:p>
            <a:r>
              <a:rPr sz="1100" b="0">
                <a:solidFill>
                  <a:srgbClr val="333333"/>
                </a:solidFill>
                <a:latin typeface="맑은 고딕"/>
              </a:rPr>
              <a:t>• 현황: OS/DB/어플리케이션 전반의 기술 지원 인력 부족
• 결정 필요사항: 전문 MSP 솔루션/인력 활용 시 비용 부담 주체 지정 (회사 vs 고객)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4023360"/>
            <a:ext cx="51206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/>
            <a:r>
              <a:rPr sz="1400" b="1">
                <a:solidFill>
                  <a:srgbClr val="182B49"/>
                </a:solidFill>
                <a:latin typeface="맑은 고딕"/>
              </a:rPr>
              <a:t>안건 4. 다운타임 발생에 대한 Credit 지급 기준
</a:t>
            </a:r>
          </a:p>
          <a:p>
            <a:r>
              <a:rPr sz="1100" b="0">
                <a:solidFill>
                  <a:srgbClr val="333333"/>
                </a:solidFill>
                <a:latin typeface="맑은 고딕"/>
              </a:rPr>
              <a:t>• 현황: 대형 고객 이관 작업 시 서비스 중단(다운타임) 수반 불가피
• 결정 필요사항: SLA 위반에 준하는 크레딧 보상 범위 및 예외 조항 마련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5. 전사 협업 Task Force 구성안</a:t>
            </a:r>
          </a:p>
          <a:p>
            <a:r>
              <a:rPr sz="1200" b="0">
                <a:solidFill>
                  <a:srgbClr val="C8DCF0"/>
                </a:solidFill>
                <a:latin typeface="맑은 고딕"/>
              </a:rPr>
              <a:t>성공적인 Fade-out을 위한 각 조직별 명확한 역할 정의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516575"/>
              </a:tblGrid>
              <a:tr h="62701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참여 조직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역할 (R&amp;R)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당면 액션 아이템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PM 조직 (TVT)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프로젝트 전체 총괄 및 매니징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전수조사 내용 바탕 이슈 점검 및 7월 보고서 수립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인프라 구축 조직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VPC 이관 예정 물량 사전 선구축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글로벌 리전(미·독) VPC 인프라 투자비용 가산출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기획 및 개발 조직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IaaS / PaaS / SaaS 상품 및 기능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Classic-VPC 기능 갭 보완 및 이관 자동화 툴 개발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고객 접점 (Sales/TAM)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VIP 및 대형 고객사 1:1 직접 대응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고객사 수용 가능한 일정 협의 및 이탈 방지 영업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보안 조직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CSAP 인증 유지 및 논리 격리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이관 후 VPC 환경 보안 규정 및 가이드라인 제시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CS 조직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대고객 공지문 발송 및 인바운드 대응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회원종류별(개인/기업/파트너) 문의 대응 가이드 준비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